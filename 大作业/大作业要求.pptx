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12" r:id="rId2"/>
    <p:sldId id="375" r:id="rId3"/>
    <p:sldId id="376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26" autoAdjust="0"/>
    <p:restoredTop sz="83906" autoAdjust="0"/>
  </p:normalViewPr>
  <p:slideViewPr>
    <p:cSldViewPr snapToGrid="0">
      <p:cViewPr varScale="1">
        <p:scale>
          <a:sx n="91" d="100"/>
          <a:sy n="91" d="100"/>
        </p:scale>
        <p:origin x="14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9D8C2E-17D0-C94A-B7DD-D23E6C46CB48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04B418-2BBD-B144-9684-40EBA1CDE23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ABC83E-64DE-4CA4-8B0F-6E546B96E98E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F302C-A27F-93ED-4BE8-B61C972B7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9CF892-1520-81E2-BF78-B5CD3C4D8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F81A04-96E9-2711-BB54-9EC8F780C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B80B66-D902-9B0D-30E8-73E7132C73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ABC83E-64DE-4CA4-8B0F-6E546B96E98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771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841626"/>
            <a:ext cx="78867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6000" baseline="0">
                <a:solidFill>
                  <a:schemeClr val="tx2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50" y="42864"/>
            <a:ext cx="7886700" cy="777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aseline="0">
                <a:solidFill>
                  <a:schemeClr val="accent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350" y="1158536"/>
            <a:ext cx="8616950" cy="4930775"/>
          </a:xfrm>
        </p:spPr>
        <p:txBody>
          <a:bodyPr tIns="46800"/>
          <a:lstStyle>
            <a:lvl1pPr marL="228600" indent="-360045" algn="l">
              <a:lnSpc>
                <a:spcPct val="10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p"/>
              <a:defRPr lang="zh-CN" altLang="en-US" dirty="0" smtClean="0"/>
            </a:lvl1pPr>
            <a:lvl2pPr marL="685800" indent="-360045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l"/>
              <a:defRPr sz="2000" baseline="0">
                <a:latin typeface="Verdana" panose="020B0604030504040204" pitchFamily="34" charset="0"/>
                <a:ea typeface="幼圆" panose="02010509060101010101" pitchFamily="49" charset="-122"/>
              </a:defRPr>
            </a:lvl2pPr>
            <a:lvl3pPr marL="1143000" indent="-360045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l"/>
              <a:defRPr sz="1800" baseline="0">
                <a:latin typeface="Verdana" panose="020B0604030504040204" pitchFamily="34" charset="0"/>
                <a:ea typeface="幼圆" panose="02010509060101010101" pitchFamily="49" charset="-122"/>
              </a:defRPr>
            </a:lvl3pPr>
            <a:lvl4pPr marL="1600200" indent="-360045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l"/>
              <a:defRPr sz="1600" baseline="0">
                <a:latin typeface="Verdana" panose="020B0604030504040204" pitchFamily="34" charset="0"/>
                <a:ea typeface="幼圆" panose="02010509060101010101" pitchFamily="49" charset="-122"/>
              </a:defRPr>
            </a:lvl4pPr>
            <a:lvl5pPr marL="2057400" indent="-360045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l"/>
              <a:defRPr sz="1600" baseline="0">
                <a:latin typeface="Verdana" panose="020B0604030504040204" pitchFamily="34" charset="0"/>
                <a:ea typeface="幼圆" panose="02010509060101010101" pitchFamily="49" charset="-122"/>
              </a:defRPr>
            </a:lvl5pPr>
            <a:lvl6pPr marL="2286000" indent="0">
              <a:buClr>
                <a:schemeClr val="tx2"/>
              </a:buClr>
              <a:buFont typeface="Arial" panose="020B0604020202020204" pitchFamily="34" charset="0"/>
              <a:buNone/>
              <a:defRPr/>
            </a:lvl6pPr>
            <a:lvl7pPr marL="2743200" indent="0">
              <a:buNone/>
              <a:defRPr/>
            </a:lvl7pPr>
            <a:lvl8pPr marL="3200400" indent="0">
              <a:buNone/>
              <a:defRPr/>
            </a:lvl8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-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0350" y="50800"/>
            <a:ext cx="7194550" cy="7874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260350" y="1149013"/>
            <a:ext cx="8629650" cy="4572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3000" baseline="0">
                <a:solidFill>
                  <a:schemeClr val="tx2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260350" y="1720513"/>
            <a:ext cx="8629650" cy="4343400"/>
          </a:xfrm>
        </p:spPr>
        <p:txBody>
          <a:bodyPr/>
          <a:lstStyle>
            <a:lvl1pPr>
              <a:buClr>
                <a:schemeClr val="accent1"/>
              </a:buClr>
              <a:defRPr baseline="0"/>
            </a:lvl1pPr>
            <a:lvl2pPr>
              <a:buClr>
                <a:schemeClr val="accent1"/>
              </a:buClr>
              <a:defRPr baseline="0"/>
            </a:lvl2pPr>
            <a:lvl3pPr>
              <a:buClr>
                <a:schemeClr val="accent1"/>
              </a:buClr>
              <a:defRPr baseline="0"/>
            </a:lvl3pPr>
            <a:lvl4pPr>
              <a:buClr>
                <a:schemeClr val="accent1"/>
              </a:buClr>
              <a:defRPr baseline="0"/>
            </a:lvl4pPr>
            <a:lvl5pPr>
              <a:buClr>
                <a:schemeClr val="accent1"/>
              </a:buCl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700" y="1171237"/>
            <a:ext cx="3962400" cy="4897438"/>
          </a:xfrm>
        </p:spPr>
        <p:txBody>
          <a:bodyPr/>
          <a:lstStyle>
            <a:lvl1pPr marL="228600" indent="-360045">
              <a:buClr>
                <a:schemeClr val="accent1"/>
              </a:buClr>
              <a:buFont typeface="Wingdings" panose="05000000000000000000" pitchFamily="2" charset="2"/>
              <a:buChar char="p"/>
              <a:defRPr sz="2200"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685800" indent="-360045">
              <a:buClr>
                <a:schemeClr val="accent1"/>
              </a:buClr>
              <a:buFont typeface="Wingdings" panose="05000000000000000000" pitchFamily="2" charset="2"/>
              <a:buChar char="l"/>
              <a:defRPr sz="2000"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360045">
              <a:buClr>
                <a:schemeClr val="accent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360045">
              <a:buClr>
                <a:schemeClr val="accent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360045">
              <a:buClr>
                <a:schemeClr val="accent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171237"/>
            <a:ext cx="4260850" cy="4897438"/>
          </a:xfrm>
        </p:spPr>
        <p:txBody>
          <a:bodyPr/>
          <a:lstStyle>
            <a:lvl1pPr marL="228600" indent="-360045">
              <a:buClr>
                <a:schemeClr val="accent1"/>
              </a:buClr>
              <a:buFont typeface="Wingdings" panose="05000000000000000000" pitchFamily="2" charset="2"/>
              <a:buChar char="p"/>
              <a:defRPr sz="2200"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685800" indent="-360045">
              <a:buClr>
                <a:schemeClr val="accent1"/>
              </a:buClr>
              <a:buFont typeface="Wingdings" panose="05000000000000000000" pitchFamily="2" charset="2"/>
              <a:buChar char="l"/>
              <a:defRPr sz="2000"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360045">
              <a:buClr>
                <a:schemeClr val="accent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360045">
              <a:buClr>
                <a:schemeClr val="accent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360045">
              <a:buClr>
                <a:schemeClr val="accent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60350" y="60327"/>
            <a:ext cx="7886700" cy="777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aseline="0">
                <a:solidFill>
                  <a:schemeClr val="accent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350" y="1112791"/>
            <a:ext cx="4006850" cy="445293"/>
          </a:xfrm>
        </p:spPr>
        <p:txBody>
          <a:bodyPr anchor="t">
            <a:noAutofit/>
          </a:bodyPr>
          <a:lstStyle>
            <a:lvl1pPr marL="0" indent="0">
              <a:buNone/>
              <a:defRPr sz="3000" b="0" baseline="0">
                <a:solidFill>
                  <a:schemeClr val="tx2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350" y="1724773"/>
            <a:ext cx="4006850" cy="4308473"/>
          </a:xfrm>
        </p:spPr>
        <p:txBody>
          <a:bodyPr/>
          <a:lstStyle>
            <a:lvl1pPr marL="228600" indent="-360045">
              <a:buClr>
                <a:schemeClr val="accent1"/>
              </a:buClr>
              <a:buFont typeface="Wingdings" panose="05000000000000000000" pitchFamily="2" charset="2"/>
              <a:buChar char="p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1pPr>
            <a:lvl2pPr marL="685800" indent="-360045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2pPr>
            <a:lvl3pPr marL="1143000" indent="-360045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3pPr>
            <a:lvl4pPr marL="1600200" indent="-360045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4pPr>
            <a:lvl5pPr marL="2057400" indent="-360045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112791"/>
            <a:ext cx="4305300" cy="445293"/>
          </a:xfrm>
        </p:spPr>
        <p:txBody>
          <a:bodyPr anchor="t">
            <a:noAutofit/>
          </a:bodyPr>
          <a:lstStyle>
            <a:lvl1pPr marL="0" indent="0">
              <a:buNone/>
              <a:defRPr sz="3000" b="0" baseline="0">
                <a:solidFill>
                  <a:schemeClr val="tx2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1724773"/>
            <a:ext cx="4305300" cy="4308473"/>
          </a:xfrm>
        </p:spPr>
        <p:txBody>
          <a:bodyPr/>
          <a:lstStyle>
            <a:lvl1pPr marL="228600" indent="-360045">
              <a:buClr>
                <a:schemeClr val="accent1"/>
              </a:buClr>
              <a:buFont typeface="Wingdings" panose="05000000000000000000" pitchFamily="2" charset="2"/>
              <a:buChar char="p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1pPr>
            <a:lvl2pPr marL="685800" indent="-360045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2pPr>
            <a:lvl3pPr marL="1143000" indent="-360045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3pPr>
            <a:lvl4pPr marL="1600200" indent="-360045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4pPr>
            <a:lvl5pPr marL="2057400" indent="-360045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60350" y="73027"/>
            <a:ext cx="7886700" cy="777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aseline="0">
                <a:solidFill>
                  <a:schemeClr val="accent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0350" y="73027"/>
            <a:ext cx="7886700" cy="777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 baseline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幼圆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350" y="1050917"/>
            <a:ext cx="8629650" cy="5070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占位符 7"/>
          <p:cNvSpPr>
            <a:spLocks noGrp="1"/>
          </p:cNvSpPr>
          <p:nvPr>
            <p:ph type="title"/>
          </p:nvPr>
        </p:nvSpPr>
        <p:spPr>
          <a:xfrm>
            <a:off x="260350" y="50800"/>
            <a:ext cx="7194550" cy="787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baseline="0">
          <a:solidFill>
            <a:schemeClr val="accent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Verdana" panose="020B0604030504040204" pitchFamily="34" charset="0"/>
          <a:ea typeface="幼圆" panose="02010509060101010101" pitchFamily="49" charset="-122"/>
          <a:cs typeface="+mj-cs"/>
        </a:defRPr>
      </a:lvl1pPr>
    </p:titleStyle>
    <p:bodyStyle>
      <a:lvl1pPr marL="228600" indent="-360045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120000"/>
        <a:buFont typeface="Wingdings" panose="05000000000000000000" pitchFamily="2" charset="2"/>
        <a:buChar char="p"/>
        <a:defRPr sz="2200" kern="1200" baseline="0">
          <a:solidFill>
            <a:schemeClr val="tx1"/>
          </a:solidFill>
          <a:latin typeface="Verdana" panose="020B0604030504040204" pitchFamily="34" charset="0"/>
          <a:ea typeface="幼圆" panose="02010509060101010101" pitchFamily="49" charset="-122"/>
          <a:cs typeface="+mn-cs"/>
        </a:defRPr>
      </a:lvl1pPr>
      <a:lvl2pPr marL="685800" indent="-360045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Wingdings" panose="05000000000000000000" pitchFamily="2" charset="2"/>
        <a:buChar char="l"/>
        <a:defRPr sz="2000" kern="1200" baseline="0">
          <a:solidFill>
            <a:schemeClr val="tx1"/>
          </a:solidFill>
          <a:latin typeface="Verdana" panose="020B0604030504040204" pitchFamily="34" charset="0"/>
          <a:ea typeface="幼圆" panose="02010509060101010101" pitchFamily="49" charset="-122"/>
          <a:cs typeface="+mn-cs"/>
        </a:defRPr>
      </a:lvl2pPr>
      <a:lvl3pPr marL="1143000" indent="-360045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Wingdings" panose="05000000000000000000" pitchFamily="2" charset="2"/>
        <a:buChar char="l"/>
        <a:defRPr sz="1800" kern="1200" baseline="0">
          <a:solidFill>
            <a:schemeClr val="tx1"/>
          </a:solidFill>
          <a:latin typeface="Verdana" panose="020B0604030504040204" pitchFamily="34" charset="0"/>
          <a:ea typeface="幼圆" panose="02010509060101010101" pitchFamily="49" charset="-122"/>
          <a:cs typeface="+mn-cs"/>
        </a:defRPr>
      </a:lvl3pPr>
      <a:lvl4pPr marL="1600200" indent="-360045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Wingdings" panose="05000000000000000000" pitchFamily="2" charset="2"/>
        <a:buChar char="l"/>
        <a:defRPr sz="1600" kern="1200" baseline="0">
          <a:solidFill>
            <a:schemeClr val="tx1"/>
          </a:solidFill>
          <a:latin typeface="Verdana" panose="020B0604030504040204" pitchFamily="34" charset="0"/>
          <a:ea typeface="幼圆" panose="02010509060101010101" pitchFamily="49" charset="-122"/>
          <a:cs typeface="+mn-cs"/>
        </a:defRPr>
      </a:lvl4pPr>
      <a:lvl5pPr marL="2057400" indent="-360045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Wingdings" panose="05000000000000000000" pitchFamily="2" charset="2"/>
        <a:buChar char="l"/>
        <a:defRPr sz="1600" kern="1200" baseline="0">
          <a:solidFill>
            <a:schemeClr val="tx1"/>
          </a:solidFill>
          <a:latin typeface="Verdana" panose="020B0604030504040204" pitchFamily="34" charset="0"/>
          <a:ea typeface="幼圆" panose="020105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penml.org/" TargetMode="External"/><Relationship Id="rId3" Type="http://schemas.openxmlformats.org/officeDocument/2006/relationships/hyperlink" Target="https://archive.ics.uci.edu/ml/index.php" TargetMode="External"/><Relationship Id="rId7" Type="http://schemas.openxmlformats.org/officeDocument/2006/relationships/hyperlink" Target="http://yann.lecun.com/exdb/mnist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huggingface.co/datasets" TargetMode="External"/><Relationship Id="rId5" Type="http://schemas.openxmlformats.org/officeDocument/2006/relationships/hyperlink" Target="https://tianchi.aliyun.com/dataset" TargetMode="External"/><Relationship Id="rId10" Type="http://schemas.openxmlformats.org/officeDocument/2006/relationships/hyperlink" Target="https://datasetsearch.research.google.com/" TargetMode="External"/><Relationship Id="rId4" Type="http://schemas.openxmlformats.org/officeDocument/2006/relationships/hyperlink" Target="https://www.kaggle.com/datasets" TargetMode="External"/><Relationship Id="rId9" Type="http://schemas.openxmlformats.org/officeDocument/2006/relationships/hyperlink" Target="https://www.stats.gov.c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Verdana" panose="020B0604030504040204" pitchFamily="34" charset="0"/>
                <a:ea typeface="幼圆" panose="02010509060101010101" pitchFamily="49" charset="-122"/>
                <a:cs typeface="Verdana" panose="020B0604030504040204" pitchFamily="34" charset="0"/>
              </a:rPr>
              <a:t>结课大作业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结课大作业要求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260350" y="936258"/>
            <a:ext cx="8262257" cy="575845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本班内同学</a:t>
            </a:r>
            <a:r>
              <a:rPr lang="zh-CN" altLang="en-US" dirty="0">
                <a:solidFill>
                  <a:srgbClr val="FF0000"/>
                </a:solidFill>
              </a:rPr>
              <a:t>自主结组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0000"/>
                </a:solidFill>
              </a:rPr>
              <a:t>2-3</a:t>
            </a:r>
            <a:r>
              <a:rPr lang="zh-CN" altLang="en-US" dirty="0">
                <a:solidFill>
                  <a:srgbClr val="FF0000"/>
                </a:solidFill>
              </a:rPr>
              <a:t>人</a:t>
            </a:r>
            <a:r>
              <a:rPr lang="zh-CN" altLang="en-US" dirty="0"/>
              <a:t>一组，填写课程群内</a:t>
            </a:r>
            <a:r>
              <a:rPr lang="zh-CN" altLang="en-US" dirty="0">
                <a:solidFill>
                  <a:srgbClr val="FF0000"/>
                </a:solidFill>
              </a:rPr>
              <a:t>共享表格</a:t>
            </a:r>
            <a:r>
              <a:rPr lang="zh-CN" altLang="en-US" dirty="0"/>
              <a:t>，表格内第一名同学为</a:t>
            </a:r>
            <a:r>
              <a:rPr lang="zh-CN" altLang="en-US" dirty="0">
                <a:solidFill>
                  <a:srgbClr val="FF0000"/>
                </a:solidFill>
              </a:rPr>
              <a:t>组长</a:t>
            </a:r>
            <a:r>
              <a:rPr lang="zh-CN" altLang="en-US" dirty="0"/>
              <a:t>，组长负责本组内各项</a:t>
            </a:r>
            <a:r>
              <a:rPr lang="zh-CN" altLang="en-US" dirty="0">
                <a:solidFill>
                  <a:srgbClr val="FF0000"/>
                </a:solidFill>
              </a:rPr>
              <a:t>工作分配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学习通</a:t>
            </a:r>
            <a:r>
              <a:rPr lang="zh-CN" altLang="en-US" dirty="0">
                <a:solidFill>
                  <a:srgbClr val="FF0000"/>
                </a:solidFill>
              </a:rPr>
              <a:t>参考题目</a:t>
            </a:r>
            <a:r>
              <a:rPr lang="zh-CN" altLang="en-US" dirty="0"/>
              <a:t>不作具体要求，</a:t>
            </a:r>
            <a:r>
              <a:rPr lang="zh-CN" altLang="en-US" dirty="0">
                <a:solidFill>
                  <a:srgbClr val="FF0000"/>
                </a:solidFill>
              </a:rPr>
              <a:t>仅供参考</a:t>
            </a:r>
            <a:r>
              <a:rPr lang="zh-CN" altLang="en-US" dirty="0"/>
              <a:t>，可以以</a:t>
            </a:r>
            <a:r>
              <a:rPr lang="zh-CN" altLang="en-US" dirty="0">
                <a:solidFill>
                  <a:srgbClr val="FF0000"/>
                </a:solidFill>
              </a:rPr>
              <a:t>参考</a:t>
            </a:r>
            <a:r>
              <a:rPr lang="zh-CN" altLang="en-US" dirty="0"/>
              <a:t>题目为题，也可组内</a:t>
            </a:r>
            <a:r>
              <a:rPr lang="zh-CN" altLang="en-US" dirty="0">
                <a:solidFill>
                  <a:srgbClr val="FF0000"/>
                </a:solidFill>
              </a:rPr>
              <a:t>自主命题</a:t>
            </a:r>
            <a:r>
              <a:rPr lang="zh-CN" altLang="en-US" dirty="0"/>
              <a:t>，但是</a:t>
            </a:r>
            <a:r>
              <a:rPr lang="zh-CN" altLang="en-US" dirty="0">
                <a:solidFill>
                  <a:srgbClr val="FF0000"/>
                </a:solidFill>
              </a:rPr>
              <a:t>不可以用已做过的实验为题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大作业题目应为</a:t>
            </a:r>
            <a:r>
              <a:rPr lang="zh-CN" altLang="en-US" dirty="0">
                <a:solidFill>
                  <a:srgbClr val="FF0000"/>
                </a:solidFill>
              </a:rPr>
              <a:t>课上学习</a:t>
            </a:r>
            <a:r>
              <a:rPr lang="zh-CN" altLang="en-US" dirty="0"/>
              <a:t>的某个或某些算法，</a:t>
            </a:r>
            <a:r>
              <a:rPr lang="zh-CN" altLang="en-US" dirty="0">
                <a:solidFill>
                  <a:srgbClr val="FF0000"/>
                </a:solidFill>
              </a:rPr>
              <a:t>不可</a:t>
            </a:r>
            <a:r>
              <a:rPr lang="zh-CN" altLang="en-US" dirty="0"/>
              <a:t>用</a:t>
            </a:r>
            <a:r>
              <a:rPr lang="zh-CN" altLang="en-US" dirty="0">
                <a:solidFill>
                  <a:srgbClr val="FF0000"/>
                </a:solidFill>
              </a:rPr>
              <a:t>超出</a:t>
            </a:r>
            <a:r>
              <a:rPr lang="zh-CN" altLang="en-US" dirty="0"/>
              <a:t>课程内容的算法，题目应为解决目前</a:t>
            </a:r>
            <a:r>
              <a:rPr lang="zh-CN" altLang="en-US" dirty="0">
                <a:solidFill>
                  <a:srgbClr val="FF0000"/>
                </a:solidFill>
              </a:rPr>
              <a:t>生活中的问题</a:t>
            </a:r>
            <a:r>
              <a:rPr lang="zh-CN" altLang="en-US" dirty="0"/>
              <a:t>为中心。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确定题后尽快目填写共享表格，共享表格内每组</a:t>
            </a:r>
            <a:r>
              <a:rPr lang="zh-CN" altLang="en-US" dirty="0">
                <a:solidFill>
                  <a:srgbClr val="FF0000"/>
                </a:solidFill>
              </a:rPr>
              <a:t>题目不可重复</a:t>
            </a:r>
            <a:r>
              <a:rPr lang="zh-CN" altLang="en-US" dirty="0"/>
              <a:t>，如果重复，以</a:t>
            </a:r>
            <a:r>
              <a:rPr lang="zh-CN" altLang="en-US" dirty="0">
                <a:solidFill>
                  <a:srgbClr val="FF0000"/>
                </a:solidFill>
              </a:rPr>
              <a:t>填写顺序</a:t>
            </a:r>
            <a:r>
              <a:rPr lang="zh-CN" altLang="en-US" dirty="0"/>
              <a:t>为主。</a:t>
            </a:r>
            <a:endParaRPr lang="en-US" altLang="zh-CN" dirty="0"/>
          </a:p>
          <a:p>
            <a:r>
              <a:rPr lang="zh-CN" altLang="en-US" dirty="0"/>
              <a:t>尽量在课上时间完成大作业的</a:t>
            </a:r>
            <a:r>
              <a:rPr lang="zh-CN" altLang="en-US" dirty="0">
                <a:solidFill>
                  <a:srgbClr val="FF0000"/>
                </a:solidFill>
              </a:rPr>
              <a:t>问题分析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数据集下载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程序编写与调试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报告撰写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打印上交</a:t>
            </a:r>
            <a:r>
              <a:rPr lang="zh-CN" altLang="en-US" dirty="0"/>
              <a:t>等任务，电子版大作业上交</a:t>
            </a:r>
            <a:r>
              <a:rPr lang="zh-CN" altLang="en-US" dirty="0">
                <a:solidFill>
                  <a:srgbClr val="FF0000"/>
                </a:solidFill>
              </a:rPr>
              <a:t>学习通</a:t>
            </a:r>
            <a:r>
              <a:rPr lang="zh-CN" altLang="en-US" dirty="0"/>
              <a:t>，纸质版大作业每组打印一份课</a:t>
            </a:r>
            <a:r>
              <a:rPr lang="zh-CN" altLang="en-US" dirty="0">
                <a:solidFill>
                  <a:srgbClr val="FF0000"/>
                </a:solidFill>
              </a:rPr>
              <a:t>上交学委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不允许</a:t>
            </a:r>
            <a:r>
              <a:rPr lang="zh-CN" altLang="en-US" dirty="0"/>
              <a:t>完全</a:t>
            </a:r>
            <a:r>
              <a:rPr lang="en-US" altLang="zh-CN" dirty="0">
                <a:solidFill>
                  <a:srgbClr val="FF0000"/>
                </a:solidFill>
              </a:rPr>
              <a:t>AI</a:t>
            </a:r>
            <a:r>
              <a:rPr lang="zh-CN" altLang="en-US" dirty="0">
                <a:solidFill>
                  <a:srgbClr val="FF0000"/>
                </a:solidFill>
              </a:rPr>
              <a:t>生成</a:t>
            </a:r>
            <a:r>
              <a:rPr lang="zh-CN" altLang="en-US" dirty="0"/>
              <a:t>所有内容，尤其数据集，必须使用现有公开数据集完成大作业。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A30CC-421E-8CBC-C9DA-BF05144A6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BE2C6D3-92BE-CC4B-8AD0-519518235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数据集网址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891F7D-1B89-7E79-3618-0600833D0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350" y="936258"/>
            <a:ext cx="8262257" cy="5758456"/>
          </a:xfrm>
        </p:spPr>
        <p:txBody>
          <a:bodyPr>
            <a:normAutofit/>
          </a:bodyPr>
          <a:lstStyle/>
          <a:p>
            <a:r>
              <a:rPr lang="en-US" altLang="zh-CN" dirty="0">
                <a:hlinkClick r:id="rId3"/>
              </a:rPr>
              <a:t>https://archive.ics.uci.edu/ml/index.php</a:t>
            </a:r>
            <a:endParaRPr lang="en-US" altLang="zh-CN" dirty="0"/>
          </a:p>
          <a:p>
            <a:r>
              <a:rPr lang="en-US" altLang="zh-CN" dirty="0">
                <a:hlinkClick r:id="rId4"/>
              </a:rPr>
              <a:t>https://www.kaggle.com/datasets</a:t>
            </a:r>
            <a:endParaRPr lang="en-US" altLang="zh-CN" dirty="0"/>
          </a:p>
          <a:p>
            <a:r>
              <a:rPr lang="en-US" altLang="zh-CN" dirty="0">
                <a:hlinkClick r:id="rId5"/>
              </a:rPr>
              <a:t>https://tianchi.aliyun.com/dataset</a:t>
            </a:r>
            <a:endParaRPr lang="en-US" altLang="zh-CN" dirty="0"/>
          </a:p>
          <a:p>
            <a:r>
              <a:rPr lang="en-US" altLang="zh-CN" dirty="0">
                <a:hlinkClick r:id="rId6"/>
              </a:rPr>
              <a:t>https://huggingface.co/datasets</a:t>
            </a:r>
            <a:endParaRPr lang="en-US" altLang="zh-CN" dirty="0"/>
          </a:p>
          <a:p>
            <a:r>
              <a:rPr lang="en-US" altLang="zh-CN" dirty="0">
                <a:hlinkClick r:id="rId7"/>
              </a:rPr>
              <a:t>http://yann.lecun.com/exdb/mnist/</a:t>
            </a:r>
            <a:endParaRPr lang="en-US" altLang="zh-CN" dirty="0"/>
          </a:p>
          <a:p>
            <a:r>
              <a:rPr lang="en-US" altLang="zh-CN" dirty="0">
                <a:hlinkClick r:id="rId8"/>
              </a:rPr>
              <a:t>https://www.openml.org/</a:t>
            </a:r>
            <a:endParaRPr lang="en-US" altLang="zh-CN" dirty="0"/>
          </a:p>
          <a:p>
            <a:r>
              <a:rPr lang="en-US" altLang="zh-CN" dirty="0">
                <a:hlinkClick r:id="rId9"/>
              </a:rPr>
              <a:t>https://www.stats.gov.cn/</a:t>
            </a:r>
            <a:endParaRPr lang="en-US" altLang="zh-CN" dirty="0"/>
          </a:p>
          <a:p>
            <a:r>
              <a:rPr lang="en-US" altLang="zh-CN" dirty="0">
                <a:hlinkClick r:id="rId10"/>
              </a:rPr>
              <a:t>https://datasetsearch.research.google.com/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07737882"/>
      </p:ext>
    </p:extLst>
  </p:cSld>
  <p:clrMapOvr>
    <a:masterClrMapping/>
  </p:clrMapOvr>
</p:sld>
</file>

<file path=ppt/theme/theme1.xml><?xml version="1.0" encoding="utf-8"?>
<a:theme xmlns:a="http://schemas.openxmlformats.org/drawingml/2006/main" name="机器学习v2.1rgb">
  <a:themeElements>
    <a:clrScheme name="机器学习">
      <a:dk1>
        <a:sysClr val="windowText" lastClr="000000"/>
      </a:dk1>
      <a:lt1>
        <a:sysClr val="window" lastClr="FFFFFF"/>
      </a:lt1>
      <a:dk2>
        <a:srgbClr val="16754D"/>
      </a:dk2>
      <a:lt2>
        <a:srgbClr val="FFFFFF"/>
      </a:lt2>
      <a:accent1>
        <a:srgbClr val="16754D"/>
      </a:accent1>
      <a:accent2>
        <a:srgbClr val="329E6E"/>
      </a:accent2>
      <a:accent3>
        <a:srgbClr val="FFC000"/>
      </a:accent3>
      <a:accent4>
        <a:srgbClr val="C00000"/>
      </a:accent4>
      <a:accent5>
        <a:srgbClr val="0070C0"/>
      </a:accent5>
      <a:accent6>
        <a:srgbClr val="002060"/>
      </a:accent6>
      <a:hlink>
        <a:srgbClr val="80C000"/>
      </a:hlink>
      <a:folHlink>
        <a:srgbClr val="CC66FF"/>
      </a:folHlink>
    </a:clrScheme>
    <a:fontScheme name="机器学习">
      <a:majorFont>
        <a:latin typeface="Verdana"/>
        <a:ea typeface="幼圆"/>
        <a:cs typeface=""/>
      </a:majorFont>
      <a:minorFont>
        <a:latin typeface="Verdana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机器学习v2.1rgb</Template>
  <TotalTime>87</TotalTime>
  <Words>296</Words>
  <Application>Microsoft Office PowerPoint</Application>
  <PresentationFormat>全屏显示(4:3)</PresentationFormat>
  <Paragraphs>19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幼圆</vt:lpstr>
      <vt:lpstr>Arial</vt:lpstr>
      <vt:lpstr>Calibri</vt:lpstr>
      <vt:lpstr>Verdana</vt:lpstr>
      <vt:lpstr>Wingdings</vt:lpstr>
      <vt:lpstr>机器学习v2.1rgb</vt:lpstr>
      <vt:lpstr>结课大作业</vt:lpstr>
      <vt:lpstr>结课大作业要求</vt:lpstr>
      <vt:lpstr>数据集网址</vt:lpstr>
    </vt:vector>
  </TitlesOfParts>
  <Company>LAMDA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机器学习-第八章</dc:title>
  <dc:creator>LAMDA Group</dc:creator>
  <cp:lastModifiedBy>Candy Big</cp:lastModifiedBy>
  <cp:revision>638</cp:revision>
  <dcterms:created xsi:type="dcterms:W3CDTF">2015-07-03T14:11:00Z</dcterms:created>
  <dcterms:modified xsi:type="dcterms:W3CDTF">2026-04-19T13:12:58Z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712DDA3C2BD14F5A8F75B1A7FCD7A26F_12</vt:lpwstr>
  </property>
  <property fmtid="{D5CDD505-2E9C-101B-9397-08002B2CF9AE}" pid="3" name="KSOProductBuildVer">
    <vt:lpwstr>2052-12.1.0.22529</vt:lpwstr>
  </property>
</Properties>
</file>